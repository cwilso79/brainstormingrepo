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70314-1C3F-45C9-AA18-E2E4538BAF26}" v="31" dt="2026-01-08T11:43:06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322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Wilson (Moody's)" userId="2ac6dede-9c04-41b6-8bd6-2415a4d0cae1" providerId="ADAL" clId="{3CE5A8B9-DD4D-4B3C-AEB1-81067314BE17}"/>
    <pc:docChg chg="undo redo custSel addSld delSld modSld sldOrd modMainMaster">
      <pc:chgData name="Craig Wilson (Moody's)" userId="2ac6dede-9c04-41b6-8bd6-2415a4d0cae1" providerId="ADAL" clId="{3CE5A8B9-DD4D-4B3C-AEB1-81067314BE17}" dt="2026-01-08T12:49:16.586" v="1728" actId="20577"/>
      <pc:docMkLst>
        <pc:docMk/>
      </pc:docMkLst>
      <pc:sldChg chg="delSp modSp mod setBg">
        <pc:chgData name="Craig Wilson (Moody's)" userId="2ac6dede-9c04-41b6-8bd6-2415a4d0cae1" providerId="ADAL" clId="{3CE5A8B9-DD4D-4B3C-AEB1-81067314BE17}" dt="2026-01-08T11:47:46.383" v="1677" actId="20577"/>
        <pc:sldMkLst>
          <pc:docMk/>
          <pc:sldMk cId="0" sldId="256"/>
        </pc:sldMkLst>
        <pc:spChg chg="mod">
          <ac:chgData name="Craig Wilson (Moody's)" userId="2ac6dede-9c04-41b6-8bd6-2415a4d0cae1" providerId="ADAL" clId="{3CE5A8B9-DD4D-4B3C-AEB1-81067314BE17}" dt="2026-01-05T17:21:33.336" v="20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8T11:47:46.383" v="1677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7:28.910" v="261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57"/>
        </pc:sldMkLst>
        <pc:spChg chg="mod">
          <ac:chgData name="Craig Wilson (Moody's)" userId="2ac6dede-9c04-41b6-8bd6-2415a4d0cae1" providerId="ADAL" clId="{3CE5A8B9-DD4D-4B3C-AEB1-81067314BE17}" dt="2026-01-06T11:00:33.850" v="943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7:33.895" v="263" actId="20577"/>
          <ac:spMkLst>
            <pc:docMk/>
            <pc:sldMk cId="0" sldId="257"/>
            <ac:spMk id="27" creationId="{00000000-0000-0000-0000-000000000000}"/>
          </ac:spMkLst>
        </pc:spChg>
      </pc:sldChg>
      <pc:sldChg chg="addSp delSp modSp mod setBg">
        <pc:chgData name="Craig Wilson (Moody's)" userId="2ac6dede-9c04-41b6-8bd6-2415a4d0cae1" providerId="ADAL" clId="{3CE5A8B9-DD4D-4B3C-AEB1-81067314BE17}" dt="2026-01-08T12:49:16.586" v="1728" actId="20577"/>
        <pc:sldMkLst>
          <pc:docMk/>
          <pc:sldMk cId="0" sldId="258"/>
        </pc:sldMkLst>
        <pc:spChg chg="mod">
          <ac:chgData name="Craig Wilson (Moody's)" userId="2ac6dede-9c04-41b6-8bd6-2415a4d0cae1" providerId="ADAL" clId="{3CE5A8B9-DD4D-4B3C-AEB1-81067314BE17}" dt="2026-01-08T10:15:37.844" v="160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8:44:20.832" v="296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17:07:47.512" v="1017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17:07:34.295" v="946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8:44:50.982" v="310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8T12:49:16.586" v="1728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8:44:53.105" v="311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8:45:06.247" v="329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4:56:17.432" v="1533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8:44:55.239" v="312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8:46:16.121" v="424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3:29:38.322" v="1292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3:29:56.422" v="1303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4:50:42.253" v="1513" actId="20577"/>
          <ac:spMkLst>
            <pc:docMk/>
            <pc:sldMk cId="0" sldId="258"/>
            <ac:spMk id="31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3:30:08.135" v="1304" actId="6549"/>
          <ac:spMkLst>
            <pc:docMk/>
            <pc:sldMk cId="0" sldId="258"/>
            <ac:spMk id="3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3:35:45.965" v="1461" actId="2057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7:37.214" v="265" actId="20577"/>
          <ac:spMkLst>
            <pc:docMk/>
            <pc:sldMk cId="0" sldId="258"/>
            <ac:spMk id="34" creationId="{00000000-0000-0000-0000-000000000000}"/>
          </ac:spMkLst>
        </pc:spChg>
        <pc:spChg chg="add mod">
          <ac:chgData name="Craig Wilson (Moody's)" userId="2ac6dede-9c04-41b6-8bd6-2415a4d0cae1" providerId="ADAL" clId="{3CE5A8B9-DD4D-4B3C-AEB1-81067314BE17}" dt="2026-01-07T13:29:45.517" v="1294" actId="1076"/>
          <ac:spMkLst>
            <pc:docMk/>
            <pc:sldMk cId="0" sldId="258"/>
            <ac:spMk id="35" creationId="{03AB6EEB-9D01-09B8-22A9-6928656407C5}"/>
          </ac:spMkLst>
        </pc:spChg>
        <pc:spChg chg="add mod">
          <ac:chgData name="Craig Wilson (Moody's)" userId="2ac6dede-9c04-41b6-8bd6-2415a4d0cae1" providerId="ADAL" clId="{3CE5A8B9-DD4D-4B3C-AEB1-81067314BE17}" dt="2026-01-07T13:29:45.517" v="1294" actId="1076"/>
          <ac:spMkLst>
            <pc:docMk/>
            <pc:sldMk cId="0" sldId="258"/>
            <ac:spMk id="36" creationId="{83CA33D3-2E68-52F4-E593-46DB1FB3BE6A}"/>
          </ac:spMkLst>
        </pc:spChg>
        <pc:spChg chg="add mod">
          <ac:chgData name="Craig Wilson (Moody's)" userId="2ac6dede-9c04-41b6-8bd6-2415a4d0cae1" providerId="ADAL" clId="{3CE5A8B9-DD4D-4B3C-AEB1-81067314BE17}" dt="2026-01-07T13:29:45.517" v="1294" actId="1076"/>
          <ac:spMkLst>
            <pc:docMk/>
            <pc:sldMk cId="0" sldId="258"/>
            <ac:spMk id="37" creationId="{F97252B0-E36A-7899-8153-C5B4077D47D2}"/>
          </ac:spMkLst>
        </pc:spChg>
        <pc:spChg chg="add mod">
          <ac:chgData name="Craig Wilson (Moody's)" userId="2ac6dede-9c04-41b6-8bd6-2415a4d0cae1" providerId="ADAL" clId="{3CE5A8B9-DD4D-4B3C-AEB1-81067314BE17}" dt="2026-01-07T13:29:45.517" v="1294" actId="1076"/>
          <ac:spMkLst>
            <pc:docMk/>
            <pc:sldMk cId="0" sldId="258"/>
            <ac:spMk id="38" creationId="{697C1A5E-97A9-8C86-A69F-40055B9FA1A8}"/>
          </ac:spMkLst>
        </pc:spChg>
        <pc:spChg chg="add mod">
          <ac:chgData name="Craig Wilson (Moody's)" userId="2ac6dede-9c04-41b6-8bd6-2415a4d0cae1" providerId="ADAL" clId="{3CE5A8B9-DD4D-4B3C-AEB1-81067314BE17}" dt="2026-01-07T14:55:03.396" v="1521" actId="20577"/>
          <ac:spMkLst>
            <pc:docMk/>
            <pc:sldMk cId="0" sldId="258"/>
            <ac:spMk id="39" creationId="{9FA320C6-3EC2-0EA6-6236-2983641D7037}"/>
          </ac:spMkLst>
        </pc:spChg>
        <pc:spChg chg="add mod">
          <ac:chgData name="Craig Wilson (Moody's)" userId="2ac6dede-9c04-41b6-8bd6-2415a4d0cae1" providerId="ADAL" clId="{3CE5A8B9-DD4D-4B3C-AEB1-81067314BE17}" dt="2026-01-08T11:43:06.374" v="1637" actId="20577"/>
          <ac:spMkLst>
            <pc:docMk/>
            <pc:sldMk cId="0" sldId="258"/>
            <ac:spMk id="40" creationId="{EF79D22A-4E7B-52DC-75F8-A91D6A5D7412}"/>
          </ac:spMkLst>
        </pc:spChg>
        <pc:spChg chg="add mod">
          <ac:chgData name="Craig Wilson (Moody's)" userId="2ac6dede-9c04-41b6-8bd6-2415a4d0cae1" providerId="ADAL" clId="{3CE5A8B9-DD4D-4B3C-AEB1-81067314BE17}" dt="2026-01-08T11:43:19.963" v="1643" actId="6549"/>
          <ac:spMkLst>
            <pc:docMk/>
            <pc:sldMk cId="0" sldId="258"/>
            <ac:spMk id="41" creationId="{4F9BA4EB-5A7E-C2FD-9D41-80B7E621E99A}"/>
          </ac:spMkLst>
        </pc:spChg>
        <pc:spChg chg="add mod">
          <ac:chgData name="Craig Wilson (Moody's)" userId="2ac6dede-9c04-41b6-8bd6-2415a4d0cae1" providerId="ADAL" clId="{3CE5A8B9-DD4D-4B3C-AEB1-81067314BE17}" dt="2026-01-07T13:30:29.195" v="1309" actId="1076"/>
          <ac:spMkLst>
            <pc:docMk/>
            <pc:sldMk cId="0" sldId="258"/>
            <ac:spMk id="42" creationId="{1581DB52-BA6E-0140-481F-B7A66754E953}"/>
          </ac:spMkLst>
        </pc:spChg>
        <pc:spChg chg="add mod">
          <ac:chgData name="Craig Wilson (Moody's)" userId="2ac6dede-9c04-41b6-8bd6-2415a4d0cae1" providerId="ADAL" clId="{3CE5A8B9-DD4D-4B3C-AEB1-81067314BE17}" dt="2026-01-08T11:42:45.266" v="1627" actId="20577"/>
          <ac:spMkLst>
            <pc:docMk/>
            <pc:sldMk cId="0" sldId="258"/>
            <ac:spMk id="43" creationId="{5A744A17-C34D-1A80-065E-08DE4FD9E743}"/>
          </ac:spMkLst>
        </pc:spChg>
        <pc:spChg chg="add mod">
          <ac:chgData name="Craig Wilson (Moody's)" userId="2ac6dede-9c04-41b6-8bd6-2415a4d0cae1" providerId="ADAL" clId="{3CE5A8B9-DD4D-4B3C-AEB1-81067314BE17}" dt="2026-01-08T12:46:51.733" v="1704" actId="6549"/>
          <ac:spMkLst>
            <pc:docMk/>
            <pc:sldMk cId="0" sldId="258"/>
            <ac:spMk id="44" creationId="{02F0073F-314A-5965-E3E8-84C179B85AE2}"/>
          </ac:spMkLst>
        </pc:spChg>
        <pc:spChg chg="add mod">
          <ac:chgData name="Craig Wilson (Moody's)" userId="2ac6dede-9c04-41b6-8bd6-2415a4d0cae1" providerId="ADAL" clId="{3CE5A8B9-DD4D-4B3C-AEB1-81067314BE17}" dt="2026-01-07T13:37:21.028" v="1495" actId="1076"/>
          <ac:spMkLst>
            <pc:docMk/>
            <pc:sldMk cId="0" sldId="258"/>
            <ac:spMk id="47" creationId="{252AB415-D25C-7151-1808-360750CDAA68}"/>
          </ac:spMkLst>
        </pc:spChg>
        <pc:spChg chg="add mod">
          <ac:chgData name="Craig Wilson (Moody's)" userId="2ac6dede-9c04-41b6-8bd6-2415a4d0cae1" providerId="ADAL" clId="{3CE5A8B9-DD4D-4B3C-AEB1-81067314BE17}" dt="2026-01-07T13:37:21.028" v="1495" actId="1076"/>
          <ac:spMkLst>
            <pc:docMk/>
            <pc:sldMk cId="0" sldId="258"/>
            <ac:spMk id="48" creationId="{729A19B6-32E1-FF0B-F28B-81AA9EC87C9D}"/>
          </ac:spMkLst>
        </pc:spChg>
        <pc:spChg chg="add mod">
          <ac:chgData name="Craig Wilson (Moody's)" userId="2ac6dede-9c04-41b6-8bd6-2415a4d0cae1" providerId="ADAL" clId="{3CE5A8B9-DD4D-4B3C-AEB1-81067314BE17}" dt="2026-01-07T13:37:12.950" v="1494" actId="1076"/>
          <ac:spMkLst>
            <pc:docMk/>
            <pc:sldMk cId="0" sldId="258"/>
            <ac:spMk id="49" creationId="{E694B070-F2ED-9C80-124C-48D74EA34F93}"/>
          </ac:spMkLst>
        </pc:spChg>
        <pc:spChg chg="add mod">
          <ac:chgData name="Craig Wilson (Moody's)" userId="2ac6dede-9c04-41b6-8bd6-2415a4d0cae1" providerId="ADAL" clId="{3CE5A8B9-DD4D-4B3C-AEB1-81067314BE17}" dt="2026-01-08T11:43:21.201" v="1644" actId="1076"/>
          <ac:spMkLst>
            <pc:docMk/>
            <pc:sldMk cId="0" sldId="258"/>
            <ac:spMk id="50" creationId="{9DEA18B0-B910-2FF8-6E9C-331BA22FF550}"/>
          </ac:spMkLst>
        </pc:spChg>
        <pc:spChg chg="add del mod">
          <ac:chgData name="Craig Wilson (Moody's)" userId="2ac6dede-9c04-41b6-8bd6-2415a4d0cae1" providerId="ADAL" clId="{3CE5A8B9-DD4D-4B3C-AEB1-81067314BE17}" dt="2026-01-08T12:47:07.468" v="1705" actId="478"/>
          <ac:spMkLst>
            <pc:docMk/>
            <pc:sldMk cId="0" sldId="258"/>
            <ac:spMk id="52" creationId="{4B8239C7-D41F-6DE4-D72F-814DDA5648D7}"/>
          </ac:spMkLst>
        </pc:spChg>
        <pc:graphicFrameChg chg="add mod">
          <ac:chgData name="Craig Wilson (Moody's)" userId="2ac6dede-9c04-41b6-8bd6-2415a4d0cae1" providerId="ADAL" clId="{3CE5A8B9-DD4D-4B3C-AEB1-81067314BE17}" dt="2026-01-07T13:32:54.095" v="1341"/>
          <ac:graphicFrameMkLst>
            <pc:docMk/>
            <pc:sldMk cId="0" sldId="258"/>
            <ac:graphicFrameMk id="45" creationId="{15A60465-C125-29E3-7F92-0836CDFFC210}"/>
          </ac:graphicFrameMkLst>
        </pc:graphicFrameChg>
        <pc:graphicFrameChg chg="add mod">
          <ac:chgData name="Craig Wilson (Moody's)" userId="2ac6dede-9c04-41b6-8bd6-2415a4d0cae1" providerId="ADAL" clId="{3CE5A8B9-DD4D-4B3C-AEB1-81067314BE17}" dt="2026-01-07T13:35:21.714" v="1442"/>
          <ac:graphicFrameMkLst>
            <pc:docMk/>
            <pc:sldMk cId="0" sldId="258"/>
            <ac:graphicFrameMk id="46" creationId="{1D98D8A6-B37B-72E4-496A-778E4049AF73}"/>
          </ac:graphicFrameMkLst>
        </pc:graphicFrameChg>
        <pc:picChg chg="add mod">
          <ac:chgData name="Craig Wilson (Moody's)" userId="2ac6dede-9c04-41b6-8bd6-2415a4d0cae1" providerId="ADAL" clId="{3CE5A8B9-DD4D-4B3C-AEB1-81067314BE17}" dt="2026-01-08T11:06:01.211" v="1610" actId="1076"/>
          <ac:picMkLst>
            <pc:docMk/>
            <pc:sldMk cId="0" sldId="258"/>
            <ac:picMk id="46" creationId="{064D5286-AB7B-4986-D399-821977436562}"/>
          </ac:picMkLst>
        </pc:pic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59"/>
        </pc:sldMkLst>
        <pc:spChg chg="mod">
          <ac:chgData name="Craig Wilson (Moody's)" userId="2ac6dede-9c04-41b6-8bd6-2415a4d0cae1" providerId="ADAL" clId="{3CE5A8B9-DD4D-4B3C-AEB1-81067314BE17}" dt="2026-01-07T09:36:37.873" v="1093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36:37.873" v="1093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36:37.873" v="109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23.448" v="1099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7:42.039" v="267" actId="20577"/>
          <ac:spMkLst>
            <pc:docMk/>
            <pc:sldMk cId="0" sldId="259"/>
            <ac:spMk id="15" creationId="{00000000-0000-0000-0000-000000000000}"/>
          </ac:spMkLst>
        </pc:spChg>
      </pc:sldChg>
      <pc:sldChg chg="addSp delSp 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0"/>
        </pc:sldMkLst>
        <pc:spChg chg="mod">
          <ac:chgData name="Craig Wilson (Moody's)" userId="2ac6dede-9c04-41b6-8bd6-2415a4d0cae1" providerId="ADAL" clId="{3CE5A8B9-DD4D-4B3C-AEB1-81067314BE17}" dt="2026-01-05T17:19:48.280" v="170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4:57.741" v="1106" actId="20577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Craig Wilson (Moody's)" userId="2ac6dede-9c04-41b6-8bd6-2415a4d0cae1" providerId="ADAL" clId="{3CE5A8B9-DD4D-4B3C-AEB1-81067314BE17}" dt="2026-01-07T08:09:12.292" v="1018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8:12:49.211" v="1068" actId="1037"/>
          <ac:spMkLst>
            <pc:docMk/>
            <pc:sldMk cId="0" sldId="260"/>
            <ac:spMk id="12" creationId="{00000000-0000-0000-0000-000000000000}"/>
          </ac:spMkLst>
        </pc:spChg>
        <pc:spChg chg="del">
          <ac:chgData name="Craig Wilson (Moody's)" userId="2ac6dede-9c04-41b6-8bd6-2415a4d0cae1" providerId="ADAL" clId="{3CE5A8B9-DD4D-4B3C-AEB1-81067314BE17}" dt="2026-01-07T08:09:12.292" v="1018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Craig Wilson (Moody's)" userId="2ac6dede-9c04-41b6-8bd6-2415a4d0cae1" providerId="ADAL" clId="{3CE5A8B9-DD4D-4B3C-AEB1-81067314BE17}" dt="2026-01-07T08:09:12.292" v="1018" actId="478"/>
          <ac:spMkLst>
            <pc:docMk/>
            <pc:sldMk cId="0" sldId="260"/>
            <ac:spMk id="1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8:13:07.718" v="1092" actId="20577"/>
          <ac:spMkLst>
            <pc:docMk/>
            <pc:sldMk cId="0" sldId="260"/>
            <ac:spMk id="24" creationId="{00000000-0000-0000-0000-000000000000}"/>
          </ac:spMkLst>
        </pc:spChg>
        <pc:spChg chg="del">
          <ac:chgData name="Craig Wilson (Moody's)" userId="2ac6dede-9c04-41b6-8bd6-2415a4d0cae1" providerId="ADAL" clId="{3CE5A8B9-DD4D-4B3C-AEB1-81067314BE17}" dt="2026-01-07T08:09:12.292" v="1018" actId="478"/>
          <ac:spMkLst>
            <pc:docMk/>
            <pc:sldMk cId="0" sldId="260"/>
            <ac:spMk id="2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7:50.176" v="269" actId="20577"/>
          <ac:spMkLst>
            <pc:docMk/>
            <pc:sldMk cId="0" sldId="260"/>
            <ac:spMk id="29" creationId="{00000000-0000-0000-0000-000000000000}"/>
          </ac:spMkLst>
        </pc:spChg>
        <pc:spChg chg="add del mod">
          <ac:chgData name="Craig Wilson (Moody's)" userId="2ac6dede-9c04-41b6-8bd6-2415a4d0cae1" providerId="ADAL" clId="{3CE5A8B9-DD4D-4B3C-AEB1-81067314BE17}" dt="2026-01-07T08:12:10.103" v="1051" actId="478"/>
          <ac:spMkLst>
            <pc:docMk/>
            <pc:sldMk cId="0" sldId="260"/>
            <ac:spMk id="30" creationId="{8AFDAE07-B4BC-8DDE-F99D-87C766E87B03}"/>
          </ac:spMkLst>
        </pc:sp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1"/>
        </pc:sldMkLst>
        <pc:spChg chg="mod">
          <ac:chgData name="Craig Wilson (Moody's)" userId="2ac6dede-9c04-41b6-8bd6-2415a4d0cae1" providerId="ADAL" clId="{3CE5A8B9-DD4D-4B3C-AEB1-81067314BE17}" dt="2026-01-07T10:02:03.401" v="1159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47:32.882" v="690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7:49.545" v="474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7:49.545" v="474" actId="107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7:49.545" v="474" actId="107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7:57.950" v="271" actId="20577"/>
          <ac:spMkLst>
            <pc:docMk/>
            <pc:sldMk cId="0" sldId="261"/>
            <ac:spMk id="38" creationId="{00000000-0000-0000-0000-000000000000}"/>
          </ac:spMkLst>
        </pc:sp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2"/>
        </pc:sldMkLst>
        <pc:spChg chg="mod">
          <ac:chgData name="Craig Wilson (Moody's)" userId="2ac6dede-9c04-41b6-8bd6-2415a4d0cae1" providerId="ADAL" clId="{3CE5A8B9-DD4D-4B3C-AEB1-81067314BE17}" dt="2026-01-06T09:07:59.955" v="47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7:59.955" v="47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48:12.476" v="703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49:46.883" v="760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49:43.321" v="752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8:16.131" v="481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40:10.495" v="687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59:16.586" v="831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59:16.586" v="831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48:06.341" v="702" actId="20577"/>
          <ac:spMkLst>
            <pc:docMk/>
            <pc:sldMk cId="0" sldId="262"/>
            <ac:spMk id="27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8:01.647" v="273" actId="20577"/>
          <ac:spMkLst>
            <pc:docMk/>
            <pc:sldMk cId="0" sldId="262"/>
            <ac:spMk id="28" creationId="{00000000-0000-0000-0000-000000000000}"/>
          </ac:spMkLst>
        </pc:spChg>
        <pc:picChg chg="mod">
          <ac:chgData name="Craig Wilson (Moody's)" userId="2ac6dede-9c04-41b6-8bd6-2415a4d0cae1" providerId="ADAL" clId="{3CE5A8B9-DD4D-4B3C-AEB1-81067314BE17}" dt="2026-01-06T09:59:16.586" v="831" actId="1076"/>
          <ac:picMkLst>
            <pc:docMk/>
            <pc:sldMk cId="0" sldId="262"/>
            <ac:picMk id="24" creationId="{00000000-0000-0000-0000-000000000000}"/>
          </ac:picMkLst>
        </pc:pic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3"/>
        </pc:sldMkLst>
        <pc:spChg chg="mod">
          <ac:chgData name="Craig Wilson (Moody's)" userId="2ac6dede-9c04-41b6-8bd6-2415a4d0cae1" providerId="ADAL" clId="{3CE5A8B9-DD4D-4B3C-AEB1-81067314BE17}" dt="2026-01-06T09:14:30.609" v="671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09:59:05.146" v="1158" actId="2710"/>
          <ac:spMkLst>
            <pc:docMk/>
            <pc:sldMk cId="0" sldId="263"/>
            <ac:spMk id="3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9:23.086" v="506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09:11.917" v="492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16:17.181" v="686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13:49.934" v="656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8:05.814" v="275" actId="20577"/>
          <ac:spMkLst>
            <pc:docMk/>
            <pc:sldMk cId="0" sldId="263"/>
            <ac:spMk id="41" creationId="{00000000-0000-0000-0000-000000000000}"/>
          </ac:spMkLst>
        </pc:sp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4"/>
        </pc:sldMkLst>
        <pc:spChg chg="mod">
          <ac:chgData name="Craig Wilson (Moody's)" userId="2ac6dede-9c04-41b6-8bd6-2415a4d0cae1" providerId="ADAL" clId="{3CE5A8B9-DD4D-4B3C-AEB1-81067314BE17}" dt="2026-01-06T10:00:01.790" v="847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48:09.359" v="277" actId="20577"/>
          <ac:spMkLst>
            <pc:docMk/>
            <pc:sldMk cId="0" sldId="264"/>
            <ac:spMk id="35" creationId="{00000000-0000-0000-0000-000000000000}"/>
          </ac:spMkLst>
        </pc:spChg>
      </pc:sldChg>
      <pc:sldChg chg="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5"/>
        </pc:sldMkLst>
        <pc:spChg chg="mod">
          <ac:chgData name="Craig Wilson (Moody's)" userId="2ac6dede-9c04-41b6-8bd6-2415a4d0cae1" providerId="ADAL" clId="{3CE5A8B9-DD4D-4B3C-AEB1-81067314BE17}" dt="2026-01-07T10:06:30.255" v="1184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0:06:56.521" v="1223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12:03.719" v="589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0:08:10.090" v="1288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51:56.690" v="788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12:21.108" v="607" actId="2057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12:47.790" v="651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6T09:12:41.388" v="642" actId="2057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5T18:24:50.271" v="257" actId="20577"/>
          <ac:spMkLst>
            <pc:docMk/>
            <pc:sldMk cId="0" sldId="265"/>
            <ac:spMk id="29" creationId="{00000000-0000-0000-0000-000000000000}"/>
          </ac:spMkLst>
        </pc:spChg>
      </pc:sldChg>
      <pc:sldChg chg="delSp modSp mod setBg">
        <pc:chgData name="Craig Wilson (Moody's)" userId="2ac6dede-9c04-41b6-8bd6-2415a4d0cae1" providerId="ADAL" clId="{3CE5A8B9-DD4D-4B3C-AEB1-81067314BE17}" dt="2026-01-07T15:00:48.075" v="1537"/>
        <pc:sldMkLst>
          <pc:docMk/>
          <pc:sldMk cId="0" sldId="266"/>
        </pc:sldMkLst>
        <pc:spChg chg="mod">
          <ac:chgData name="Craig Wilson (Moody's)" userId="2ac6dede-9c04-41b6-8bd6-2415a4d0cae1" providerId="ADAL" clId="{3CE5A8B9-DD4D-4B3C-AEB1-81067314BE17}" dt="2026-01-05T18:24:53.442" v="259" actId="20577"/>
          <ac:spMkLst>
            <pc:docMk/>
            <pc:sldMk cId="0" sldId="266"/>
            <ac:spMk id="14" creationId="{00000000-0000-0000-0000-000000000000}"/>
          </ac:spMkLst>
        </pc:spChg>
      </pc:sldChg>
      <pc:sldChg chg="modSp add mod ord setBg">
        <pc:chgData name="Craig Wilson (Moody's)" userId="2ac6dede-9c04-41b6-8bd6-2415a4d0cae1" providerId="ADAL" clId="{3CE5A8B9-DD4D-4B3C-AEB1-81067314BE17}" dt="2026-01-07T15:00:48.075" v="1537"/>
        <pc:sldMkLst>
          <pc:docMk/>
          <pc:sldMk cId="4039554626" sldId="268"/>
        </pc:sldMkLst>
        <pc:spChg chg="mod">
          <ac:chgData name="Craig Wilson (Moody's)" userId="2ac6dede-9c04-41b6-8bd6-2415a4d0cae1" providerId="ADAL" clId="{3CE5A8B9-DD4D-4B3C-AEB1-81067314BE17}" dt="2026-01-06T09:55:37.178" v="821" actId="20577"/>
          <ac:spMkLst>
            <pc:docMk/>
            <pc:sldMk cId="4039554626" sldId="268"/>
            <ac:spMk id="2" creationId="{91D6DAF7-4392-29B6-5C1B-60473905A50B}"/>
          </ac:spMkLst>
        </pc:spChg>
        <pc:spChg chg="mod">
          <ac:chgData name="Craig Wilson (Moody's)" userId="2ac6dede-9c04-41b6-8bd6-2415a4d0cae1" providerId="ADAL" clId="{3CE5A8B9-DD4D-4B3C-AEB1-81067314BE17}" dt="2026-01-06T09:55:26.771" v="814" actId="20577"/>
          <ac:spMkLst>
            <pc:docMk/>
            <pc:sldMk cId="4039554626" sldId="268"/>
            <ac:spMk id="3" creationId="{B564D943-A5EF-BB1F-A26C-F7BEE95F8191}"/>
          </ac:spMkLst>
        </pc:spChg>
        <pc:spChg chg="mod">
          <ac:chgData name="Craig Wilson (Moody's)" userId="2ac6dede-9c04-41b6-8bd6-2415a4d0cae1" providerId="ADAL" clId="{3CE5A8B9-DD4D-4B3C-AEB1-81067314BE17}" dt="2026-01-06T09:11:41.983" v="582" actId="20577"/>
          <ac:spMkLst>
            <pc:docMk/>
            <pc:sldMk cId="4039554626" sldId="268"/>
            <ac:spMk id="6" creationId="{212B024F-DABD-B917-4D7A-C5F0E7AF4CA6}"/>
          </ac:spMkLst>
        </pc:spChg>
      </pc:sldChg>
      <pc:sldChg chg="delSp modSp add del mod setBg">
        <pc:chgData name="Craig Wilson (Moody's)" userId="2ac6dede-9c04-41b6-8bd6-2415a4d0cae1" providerId="ADAL" clId="{3CE5A8B9-DD4D-4B3C-AEB1-81067314BE17}" dt="2026-01-07T15:02:40.391" v="1545" actId="47"/>
        <pc:sldMkLst>
          <pc:docMk/>
          <pc:sldMk cId="0" sldId="269"/>
        </pc:sldMkLst>
        <pc:spChg chg="mod">
          <ac:chgData name="Craig Wilson (Moody's)" userId="2ac6dede-9c04-41b6-8bd6-2415a4d0cae1" providerId="ADAL" clId="{3CE5A8B9-DD4D-4B3C-AEB1-81067314BE17}" dt="2026-01-07T15:01:22.716" v="1538" actId="14100"/>
          <ac:spMkLst>
            <pc:docMk/>
            <pc:sldMk cId="0" sldId="269"/>
            <ac:spMk id="18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5:01:29.806" v="1541" actId="107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Craig Wilson (Moody's)" userId="2ac6dede-9c04-41b6-8bd6-2415a4d0cae1" providerId="ADAL" clId="{3CE5A8B9-DD4D-4B3C-AEB1-81067314BE17}" dt="2026-01-07T15:02:12.415" v="1543" actId="113"/>
          <ac:spMkLst>
            <pc:docMk/>
            <pc:sldMk cId="0" sldId="269"/>
            <ac:spMk id="42" creationId="{00000000-0000-0000-0000-000000000000}"/>
          </ac:spMkLst>
        </pc:spChg>
        <pc:spChg chg="del">
          <ac:chgData name="Craig Wilson (Moody's)" userId="2ac6dede-9c04-41b6-8bd6-2415a4d0cae1" providerId="ADAL" clId="{3CE5A8B9-DD4D-4B3C-AEB1-81067314BE17}" dt="2026-01-07T15:02:21.951" v="1544" actId="478"/>
          <ac:spMkLst>
            <pc:docMk/>
            <pc:sldMk cId="0" sldId="269"/>
            <ac:spMk id="43" creationId="{00000000-0000-0000-0000-000000000000}"/>
          </ac:spMkLst>
        </pc:spChg>
      </pc:sldChg>
      <pc:sldMasterChg chg="setBg modSldLayout">
        <pc:chgData name="Craig Wilson (Moody's)" userId="2ac6dede-9c04-41b6-8bd6-2415a4d0cae1" providerId="ADAL" clId="{3CE5A8B9-DD4D-4B3C-AEB1-81067314BE17}" dt="2026-01-07T15:00:48.075" v="1537"/>
        <pc:sldMasterMkLst>
          <pc:docMk/>
          <pc:sldMasterMk cId="0" sldId="2147483648"/>
        </pc:sldMasterMkLst>
        <pc:sldLayoutChg chg="setBg">
          <pc:chgData name="Craig Wilson (Moody's)" userId="2ac6dede-9c04-41b6-8bd6-2415a4d0cae1" providerId="ADAL" clId="{3CE5A8B9-DD4D-4B3C-AEB1-81067314BE17}" dt="2026-01-07T15:00:48.075" v="153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16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A008-3EE7-A78A-F757-D3E9DC189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F4086-078D-43BB-5B83-82851A747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7C63D-C757-6D90-5C93-95EFE1C1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F48FC-1084-26E6-82E2-28BEE1B99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38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0905" y="1865742"/>
            <a:ext cx="4722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Moody's for Compliance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3006969" y="2494392"/>
            <a:ext cx="31300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Model Proposal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565995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507802"/>
            <a:ext cx="8617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SKU Architecture Is Creating Commercial Friction Across Compliance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041202"/>
            <a:ext cx="4191000" cy="1249561"/>
          </a:xfrm>
          <a:prstGeom prst="roundRect">
            <a:avLst>
              <a:gd name="adj" fmla="val 76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060252"/>
            <a:ext cx="41910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1702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74602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Triggers New Contracts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818382"/>
            <a:ext cx="39639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add-on requires a full procurement cycle — legal review, new terms, weeks of delay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405063"/>
            <a:ext cx="4191000" cy="1249561"/>
          </a:xfrm>
          <a:prstGeom prst="roundRect">
            <a:avLst>
              <a:gd name="adj" fmla="val 76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04800" y="2424113"/>
            <a:ext cx="41910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95563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38463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Disparate Terms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82243"/>
            <a:ext cx="39639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overage clauses, usage definitions, and renewal terms across legacy products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1041202"/>
            <a:ext cx="4191000" cy="1249561"/>
          </a:xfrm>
          <a:prstGeom prst="roundRect">
            <a:avLst>
              <a:gd name="adj" fmla="val 76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8200" y="1060252"/>
            <a:ext cx="41910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231702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574602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Pricing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818382"/>
            <a:ext cx="39639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data, different rates depending on delivery method — API vs platform vs bulk feeds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2405063"/>
            <a:ext cx="4191000" cy="1249561"/>
          </a:xfrm>
          <a:prstGeom prst="roundRect">
            <a:avLst>
              <a:gd name="adj" fmla="val 76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2424113"/>
            <a:ext cx="41910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595563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2938463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SKUs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182243"/>
            <a:ext cx="39639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Orbis Global, EVA Essentials, GRID Review, AI Review — customers see 4-5 line items for one solution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4800" y="3997523"/>
            <a:ext cx="8534400" cy="638026"/>
          </a:xfrm>
          <a:prstGeom prst="roundRect">
            <a:avLst>
              <a:gd name="adj" fmla="val 149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8613" y="3997523"/>
            <a:ext cx="0" cy="638026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2925" y="4130873"/>
            <a:ext cx="8267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42925" y="4342209"/>
            <a:ext cx="82678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 sellers • Expansion friction • Revenue leakage • Lost deals to competitors with more flexible models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2869"/>
            <a:ext cx="8616765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spcAft>
                <a:spcPts val="9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Converging on Modular Packaging and Pricing by Consumption to Drive Growth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700" y="1249096"/>
            <a:ext cx="4267200" cy="880021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66700" y="1263384"/>
            <a:ext cx="4267200" cy="0"/>
          </a:xfrm>
          <a:prstGeom prst="line">
            <a:avLst/>
          </a:prstGeom>
          <a:noFill/>
          <a:ln w="28575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1000" y="1391971"/>
            <a:ext cx="4119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GARTNER, 2024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81000" y="1550027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Demand Composable Architectures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748117"/>
            <a:ext cx="4119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to large enterprises are shifting to modular, flexible architectures — and they expect pricing models that match.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10100" y="1231981"/>
            <a:ext cx="4267200" cy="9142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10100" y="1246269"/>
            <a:ext cx="4267200" cy="0"/>
          </a:xfrm>
          <a:prstGeom prst="line">
            <a:avLst/>
          </a:prstGeom>
          <a:noFill/>
          <a:ln w="28575">
            <a:solidFill>
              <a:srgbClr val="2AA1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24400" y="1374856"/>
            <a:ext cx="4119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MONEVATE B2B SAAS PRICING STUDY, 2025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724400" y="1532912"/>
            <a:ext cx="41193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+ Modular Packaging Driving Superior Growth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4400" y="1731002"/>
            <a:ext cx="41193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using Base + Modular packaging grow 2x faster with &gt;100% NRR (vs companies deploying traditional tiered G/B/B models)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24400" y="1911977"/>
            <a:ext cx="41193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66700" y="2393881"/>
            <a:ext cx="2096393" cy="914235"/>
          </a:xfrm>
          <a:prstGeom prst="roundRect">
            <a:avLst>
              <a:gd name="adj" fmla="val 8953"/>
            </a:avLst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0" y="2508182"/>
            <a:ext cx="1905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 &amp; Bradstreet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2692878"/>
            <a:ext cx="1867793" cy="158055"/>
          </a:xfrm>
          <a:prstGeom prst="roundRect">
            <a:avLst>
              <a:gd name="adj" fmla="val 482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2711928"/>
            <a:ext cx="17497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Deals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1000" y="2908083"/>
            <a:ext cx="1905149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data into modular "data blocks" that customers select and consume via APIs &amp; flat files for specific use cases.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439293" y="2412932"/>
            <a:ext cx="2095202" cy="895184"/>
          </a:xfrm>
          <a:prstGeom prst="roundRect">
            <a:avLst>
              <a:gd name="adj" fmla="val 93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34543" y="2508182"/>
            <a:ext cx="19427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LexisNexis (</a:t>
            </a:r>
            <a:r>
              <a:rPr lang="en-US" sz="825" b="1" dirty="0" err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RiskNarrative</a:t>
            </a: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534543" y="2692878"/>
            <a:ext cx="1904702" cy="158055"/>
          </a:xfrm>
          <a:prstGeom prst="roundRect">
            <a:avLst>
              <a:gd name="adj" fmla="val 48211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10743" y="2711928"/>
            <a:ext cx="17873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Bundles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534543" y="2908083"/>
            <a:ext cx="194279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annual license fee for platform access, plus prepaid data bundles for KYC/AML, drawn down as and when consumed.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10695" y="2412932"/>
            <a:ext cx="2095202" cy="895184"/>
          </a:xfrm>
          <a:prstGeom prst="roundRect">
            <a:avLst>
              <a:gd name="adj" fmla="val 93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5945" y="2508182"/>
            <a:ext cx="19427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LSEG WorldCheck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05945" y="2692878"/>
            <a:ext cx="1904702" cy="158055"/>
          </a:xfrm>
          <a:prstGeom prst="roundRect">
            <a:avLst>
              <a:gd name="adj" fmla="val 48211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2145" y="2711928"/>
            <a:ext cx="17873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Points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705945" y="2908083"/>
            <a:ext cx="194279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points-based model — customers purchase a single pool that can be consumed across multiple screening products.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782098" y="2412932"/>
            <a:ext cx="2095202" cy="895184"/>
          </a:xfrm>
          <a:prstGeom prst="roundRect">
            <a:avLst>
              <a:gd name="adj" fmla="val 93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77348" y="2508182"/>
            <a:ext cx="19427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Fenergo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877348" y="2692878"/>
            <a:ext cx="1904702" cy="158055"/>
          </a:xfrm>
          <a:prstGeom prst="roundRect">
            <a:avLst>
              <a:gd name="adj" fmla="val 48211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>
              <a:lnSpc>
                <a:spcPts val="945"/>
              </a:lnSpc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License x Entity Volumes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953548" y="2711928"/>
            <a:ext cx="17873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877348" y="2908083"/>
            <a:ext cx="194279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platform license with additional fees for specific CLM/KYC modules and workflows, adjusted around client/entity volumes &amp; scope.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03AB6EEB-9D01-09B8-22A9-6928656407C5}"/>
              </a:ext>
            </a:extLst>
          </p:cNvPr>
          <p:cNvSpPr/>
          <p:nvPr/>
        </p:nvSpPr>
        <p:spPr>
          <a:xfrm>
            <a:off x="267891" y="3422417"/>
            <a:ext cx="2095202" cy="895184"/>
          </a:xfrm>
          <a:prstGeom prst="roundRect">
            <a:avLst>
              <a:gd name="adj" fmla="val 93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83CA33D3-2E68-52F4-E593-46DB1FB3BE6A}"/>
              </a:ext>
            </a:extLst>
          </p:cNvPr>
          <p:cNvSpPr/>
          <p:nvPr/>
        </p:nvSpPr>
        <p:spPr>
          <a:xfrm>
            <a:off x="363141" y="3517667"/>
            <a:ext cx="19427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</a:t>
            </a:r>
            <a:endParaRPr lang="en-US" sz="825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97252B0-E36A-7899-8153-C5B4077D47D2}"/>
              </a:ext>
            </a:extLst>
          </p:cNvPr>
          <p:cNvSpPr/>
          <p:nvPr/>
        </p:nvSpPr>
        <p:spPr>
          <a:xfrm>
            <a:off x="363141" y="3702363"/>
            <a:ext cx="1904702" cy="158055"/>
          </a:xfrm>
          <a:prstGeom prst="roundRect">
            <a:avLst>
              <a:gd name="adj" fmla="val 48211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697C1A5E-97A9-8C86-A69F-40055B9FA1A8}"/>
              </a:ext>
            </a:extLst>
          </p:cNvPr>
          <p:cNvSpPr/>
          <p:nvPr/>
        </p:nvSpPr>
        <p:spPr>
          <a:xfrm>
            <a:off x="439341" y="3721413"/>
            <a:ext cx="17873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Usage</a:t>
            </a:r>
            <a:endParaRPr lang="en-US" sz="675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9FA320C6-3EC2-0EA6-6236-2983641D7037}"/>
              </a:ext>
            </a:extLst>
          </p:cNvPr>
          <p:cNvSpPr/>
          <p:nvPr/>
        </p:nvSpPr>
        <p:spPr>
          <a:xfrm>
            <a:off x="363141" y="3917568"/>
            <a:ext cx="194279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licenses sold separately from usage-based consumption modules.</a:t>
            </a:r>
            <a:endParaRPr lang="en-US" sz="675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EF79D22A-4E7B-52DC-75F8-A91D6A5D7412}"/>
              </a:ext>
            </a:extLst>
          </p:cNvPr>
          <p:cNvSpPr/>
          <p:nvPr/>
        </p:nvSpPr>
        <p:spPr>
          <a:xfrm>
            <a:off x="2458343" y="3426220"/>
            <a:ext cx="4190398" cy="1667591"/>
          </a:xfrm>
          <a:prstGeom prst="roundRect">
            <a:avLst>
              <a:gd name="adj" fmla="val 93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F9BA4EB-5A7E-C2FD-9D41-80B7E621E99A}"/>
              </a:ext>
            </a:extLst>
          </p:cNvPr>
          <p:cNvSpPr/>
          <p:nvPr/>
        </p:nvSpPr>
        <p:spPr>
          <a:xfrm>
            <a:off x="2553593" y="3521471"/>
            <a:ext cx="19427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 err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</a:t>
            </a:r>
            <a:r>
              <a:rPr lang="en-US" sz="8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3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Flex</a:t>
            </a:r>
            <a:endParaRPr lang="en-US" sz="60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1581DB52-BA6E-0140-481F-B7A66754E953}"/>
              </a:ext>
            </a:extLst>
          </p:cNvPr>
          <p:cNvSpPr/>
          <p:nvPr/>
        </p:nvSpPr>
        <p:spPr>
          <a:xfrm>
            <a:off x="2553593" y="3706167"/>
            <a:ext cx="1904702" cy="158055"/>
          </a:xfrm>
          <a:prstGeom prst="roundRect">
            <a:avLst>
              <a:gd name="adj" fmla="val 48211"/>
            </a:avLst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5A744A17-C34D-1A80-065E-08DE4FD9E743}"/>
              </a:ext>
            </a:extLst>
          </p:cNvPr>
          <p:cNvSpPr/>
          <p:nvPr/>
        </p:nvSpPr>
        <p:spPr>
          <a:xfrm>
            <a:off x="2629793" y="3725217"/>
            <a:ext cx="17873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‘all in’ subscription model</a:t>
            </a:r>
            <a:endParaRPr lang="en-US" sz="675" dirty="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02F0073F-314A-5965-E3E8-84C179B85AE2}"/>
              </a:ext>
            </a:extLst>
          </p:cNvPr>
          <p:cNvSpPr/>
          <p:nvPr/>
        </p:nvSpPr>
        <p:spPr>
          <a:xfrm>
            <a:off x="2553593" y="3921372"/>
            <a:ext cx="194279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annual spend subscription model where customers purchase a flexible pool of subscription value that can be allocated across Falcon modules freely.</a:t>
            </a:r>
            <a:endParaRPr lang="en-US" sz="675" dirty="0"/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252AB415-D25C-7151-1808-360750CDAA68}"/>
              </a:ext>
            </a:extLst>
          </p:cNvPr>
          <p:cNvSpPr/>
          <p:nvPr/>
        </p:nvSpPr>
        <p:spPr>
          <a:xfrm>
            <a:off x="159939" y="2464873"/>
            <a:ext cx="45719" cy="799501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9A19B6-32E1-FF0B-F28B-81AA9EC87C9D}"/>
              </a:ext>
            </a:extLst>
          </p:cNvPr>
          <p:cNvSpPr txBox="1"/>
          <p:nvPr/>
        </p:nvSpPr>
        <p:spPr>
          <a:xfrm rot="10800000">
            <a:off x="-72750" y="2446083"/>
            <a:ext cx="276999" cy="8467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bg1"/>
                </a:solidFill>
              </a:rPr>
              <a:t>Compliance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E694B070-F2ED-9C80-124C-48D74EA34F93}"/>
              </a:ext>
            </a:extLst>
          </p:cNvPr>
          <p:cNvSpPr/>
          <p:nvPr/>
        </p:nvSpPr>
        <p:spPr>
          <a:xfrm>
            <a:off x="157509" y="3459652"/>
            <a:ext cx="45719" cy="799501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EA18B0-B910-2FF8-6E9C-331BA22FF550}"/>
              </a:ext>
            </a:extLst>
          </p:cNvPr>
          <p:cNvSpPr txBox="1"/>
          <p:nvPr/>
        </p:nvSpPr>
        <p:spPr>
          <a:xfrm rot="10800000">
            <a:off x="-61477" y="3440862"/>
            <a:ext cx="276999" cy="8467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GB" sz="600" dirty="0">
                <a:solidFill>
                  <a:schemeClr val="bg1"/>
                </a:solidFill>
              </a:rPr>
              <a:t>Adjacent</a:t>
            </a:r>
            <a:endParaRPr lang="en-US" sz="600" dirty="0">
              <a:solidFill>
                <a:schemeClr val="bg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64D5286-AB7B-4986-D399-821977436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61819"/>
            <a:ext cx="1937756" cy="15946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3605" y="816769"/>
            <a:ext cx="1336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PROPOSAL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03555" y="2294818"/>
            <a:ext cx="3136740" cy="46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22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Agreement.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056686" y="2983446"/>
            <a:ext cx="3030629" cy="46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22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 Items.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2191702" y="3672074"/>
            <a:ext cx="4760595" cy="46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22"/>
              </a:lnSpc>
              <a:spcAft>
                <a:spcPts val="30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Land &amp; Expand.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909810" y="1344308"/>
            <a:ext cx="2296567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76510" y="149670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E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0960" y="155579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2169" y="1529153"/>
            <a:ext cx="137094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Package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57218" y="1462478"/>
            <a:ext cx="1589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67000" y="1344308"/>
            <a:ext cx="2356396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33700" y="149670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E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150" y="155579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38761" y="1529153"/>
            <a:ext cx="143197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Allowance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65995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87417"/>
            <a:ext cx="5965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Starts with One Access Package Selection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454117"/>
            <a:ext cx="8705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delivery infrastructure based on how you want to consume M’ Compliance capabilities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400" y="1641446"/>
            <a:ext cx="1905000" cy="1645593"/>
          </a:xfrm>
          <a:prstGeom prst="roundRect">
            <a:avLst>
              <a:gd name="adj" fmla="val 69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8660" y="1870046"/>
            <a:ext cx="155448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08660" y="2220536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UI, API &amp; MCP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723900" y="2721342"/>
            <a:ext cx="15240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8660" y="2845167"/>
            <a:ext cx="1554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$10k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90800" y="1641446"/>
            <a:ext cx="1905000" cy="1645593"/>
          </a:xfrm>
          <a:prstGeom prst="roundRect">
            <a:avLst>
              <a:gd name="adj" fmla="val 69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66060" y="1870046"/>
            <a:ext cx="155448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740212" y="2220536"/>
            <a:ext cx="16516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Pre-configured workflows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781300" y="2721342"/>
            <a:ext cx="15240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66060" y="2845167"/>
            <a:ext cx="1554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$25k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8200" y="1641446"/>
            <a:ext cx="1905000" cy="1645593"/>
          </a:xfrm>
          <a:prstGeom prst="roundRect">
            <a:avLst>
              <a:gd name="adj" fmla="val 69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3460" y="1870046"/>
            <a:ext cx="155448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823460" y="2220536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Custom builder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838700" y="2721342"/>
            <a:ext cx="15240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3460" y="2845167"/>
            <a:ext cx="1554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$75k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05600" y="1641446"/>
            <a:ext cx="1905000" cy="1645593"/>
          </a:xfrm>
          <a:prstGeom prst="roundRect">
            <a:avLst>
              <a:gd name="adj" fmla="val 69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80860" y="1870046"/>
            <a:ext cx="155448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880860" y="2220536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Bulk feeds</a:t>
            </a:r>
          </a:p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A198"/>
                </a:solidFill>
                <a:latin typeface="Arial" pitchFamily="34" charset="0"/>
                <a:cs typeface="Arial" pitchFamily="34" charset="-120"/>
              </a:rPr>
              <a:t>+ Dedicated support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896100" y="2721342"/>
            <a:ext cx="15240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80860" y="2845167"/>
            <a:ext cx="1554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$150k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4800" y="4680645"/>
            <a:ext cx="7655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package names, pricing, and features shown are illustrative for presentation purposes only. Final pricing and packaging subject to change.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76" y="240149"/>
            <a:ext cx="85885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3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Commit to an Annual Spend Based on Entity Volumes &amp; Use Case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66246" y="817308"/>
            <a:ext cx="22701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commitment = deeper discounts. 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85356" y="1069628"/>
            <a:ext cx="2973288" cy="426690"/>
          </a:xfrm>
          <a:prstGeom prst="roundRect">
            <a:avLst>
              <a:gd name="adj" fmla="val 17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5856" y="1164878"/>
            <a:ext cx="666750" cy="236190"/>
          </a:xfrm>
          <a:prstGeom prst="roundRect">
            <a:avLst>
              <a:gd name="adj" fmla="val 16131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5774" y="1202978"/>
            <a:ext cx="446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47406" y="1189583"/>
            <a:ext cx="12029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 – $49k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9120" y="1196280"/>
            <a:ext cx="2948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85356" y="1572518"/>
            <a:ext cx="2973288" cy="426690"/>
          </a:xfrm>
          <a:prstGeom prst="roundRect">
            <a:avLst>
              <a:gd name="adj" fmla="val 17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75856" y="1667768"/>
            <a:ext cx="666750" cy="236190"/>
          </a:xfrm>
          <a:prstGeom prst="roundRect">
            <a:avLst>
              <a:gd name="adj" fmla="val 16131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5774" y="1705868"/>
            <a:ext cx="446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7406" y="1692473"/>
            <a:ext cx="10905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– $149k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68987" y="1699171"/>
            <a:ext cx="4071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085356" y="2075408"/>
            <a:ext cx="2973288" cy="426690"/>
          </a:xfrm>
          <a:prstGeom prst="roundRect">
            <a:avLst>
              <a:gd name="adj" fmla="val 17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5856" y="2170658"/>
            <a:ext cx="666750" cy="236190"/>
          </a:xfrm>
          <a:prstGeom prst="roundRect">
            <a:avLst>
              <a:gd name="adj" fmla="val 16131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5774" y="2208758"/>
            <a:ext cx="446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47406" y="2195364"/>
            <a:ext cx="11816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– $399k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58284" y="2202061"/>
            <a:ext cx="3160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085356" y="2578298"/>
            <a:ext cx="2973288" cy="426690"/>
          </a:xfrm>
          <a:prstGeom prst="roundRect">
            <a:avLst>
              <a:gd name="adj" fmla="val 17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75856" y="2673548"/>
            <a:ext cx="666750" cy="236190"/>
          </a:xfrm>
          <a:prstGeom prst="roundRect">
            <a:avLst>
              <a:gd name="adj" fmla="val 16131"/>
            </a:avLst>
          </a:prstGeom>
          <a:solidFill>
            <a:srgbClr val="20C99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85774" y="2711648"/>
            <a:ext cx="446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47406" y="2698254"/>
            <a:ext cx="9077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 – $749k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89798" y="2704951"/>
            <a:ext cx="5899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085356" y="3081189"/>
            <a:ext cx="2973288" cy="426690"/>
          </a:xfrm>
          <a:prstGeom prst="roundRect">
            <a:avLst>
              <a:gd name="adj" fmla="val 17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75856" y="3176439"/>
            <a:ext cx="666750" cy="236190"/>
          </a:xfrm>
          <a:prstGeom prst="roundRect">
            <a:avLst>
              <a:gd name="adj" fmla="val 16131"/>
            </a:avLst>
          </a:prstGeom>
          <a:solidFill>
            <a:srgbClr val="007B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85774" y="3214539"/>
            <a:ext cx="446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7406" y="3201144"/>
            <a:ext cx="922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$750k – $1M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788" y="3207841"/>
            <a:ext cx="5756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3085356" y="3584079"/>
            <a:ext cx="2973288" cy="426690"/>
          </a:xfrm>
          <a:prstGeom prst="roundRect">
            <a:avLst>
              <a:gd name="adj" fmla="val 178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75856" y="3679329"/>
            <a:ext cx="666750" cy="236190"/>
          </a:xfrm>
          <a:prstGeom prst="roundRect">
            <a:avLst>
              <a:gd name="adj" fmla="val 16131"/>
            </a:avLst>
          </a:prstGeom>
          <a:solidFill>
            <a:srgbClr val="FFB02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5774" y="3717429"/>
            <a:ext cx="446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47406" y="3704034"/>
            <a:ext cx="9991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$1M+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79393" y="3710732"/>
            <a:ext cx="49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737545" y="4163169"/>
            <a:ext cx="3668762" cy="502890"/>
          </a:xfrm>
          <a:prstGeom prst="roundRect">
            <a:avLst>
              <a:gd name="adj" fmla="val 1894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34029" y="4258419"/>
            <a:ext cx="3275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Step-Up Only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34029" y="4437459"/>
            <a:ext cx="3275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 increase commitment anytime. Discounts apply immediately.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04800" y="4856559"/>
            <a:ext cx="7655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spend bands, discount levels, and level names shown are illustrative for presentation purposes only.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412" y="246311"/>
            <a:ext cx="6198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Consumption Burns Down from the Same Allowance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97412" y="513011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pool of credits. Three consumption categories. No silos.</a:t>
            </a:r>
            <a:endParaRPr lang="en-US" sz="975" dirty="0"/>
          </a:p>
        </p:txBody>
      </p:sp>
      <p:pic>
        <p:nvPicPr>
          <p:cNvPr id="4" name="Image 0" descr="/tmp/rasterized-gradient-e6a131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147018"/>
            <a:ext cx="2476500" cy="9980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257" y="1337518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Data</a:t>
            </a:r>
          </a:p>
          <a:p>
            <a:pPr marL="0" indent="0" algn="ctr">
              <a:lnSpc>
                <a:spcPts val="1890"/>
              </a:lnSpc>
              <a:spcAft>
                <a:spcPts val="450"/>
              </a:spcAft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3257" y="1634579"/>
            <a:ext cx="20596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profiles, ownership structures, financials, registry data</a:t>
            </a:r>
            <a:endParaRPr lang="en-US" sz="900" dirty="0"/>
          </a:p>
        </p:txBody>
      </p:sp>
      <p:pic>
        <p:nvPicPr>
          <p:cNvPr id="7" name="Image 1" descr="/tmp/rasterized-gradient-7dc0f1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1147018"/>
            <a:ext cx="2476500" cy="9980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42157" y="1337518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&amp; Risk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542157" y="1634579"/>
            <a:ext cx="20596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Sanctions, PEPs, adverse media checks</a:t>
            </a:r>
            <a:endParaRPr lang="en-US" sz="900" dirty="0"/>
          </a:p>
        </p:txBody>
      </p:sp>
      <p:pic>
        <p:nvPicPr>
          <p:cNvPr id="10" name="Image 2" descr="/tmp/rasterized-gradient-713c54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1147018"/>
            <a:ext cx="2476500" cy="9980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1057" y="1337518"/>
            <a:ext cx="20596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171057" y="1634579"/>
            <a:ext cx="20596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IDD reports, screening agents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647950" y="2449860"/>
            <a:ext cx="3847951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044098" y="2640360"/>
            <a:ext cx="39803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3044098" y="2971800"/>
            <a:ext cx="398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3816612" y="264036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3816612" y="2971800"/>
            <a:ext cx="2667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4459103" y="264036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459103" y="2971800"/>
            <a:ext cx="2667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4970859" y="2759422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B4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256609" y="2716560"/>
            <a:ext cx="972592" cy="325636"/>
          </a:xfrm>
          <a:prstGeom prst="roundRect">
            <a:avLst>
              <a:gd name="adj" fmla="val 175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409009" y="2792760"/>
            <a:ext cx="6811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Price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219456" y="3371925"/>
            <a:ext cx="8705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Delivery-agnostic pricing: capabilities cost the same regardless of channel consumed through</a:t>
            </a:r>
            <a:endParaRPr lang="en-US" sz="825" dirty="0"/>
          </a:p>
        </p:txBody>
      </p:sp>
      <p:pic>
        <p:nvPicPr>
          <p:cNvPr id="24" name="Image 3" descr="/tmp/rasterized-gradient-3f8a3c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3906068"/>
            <a:ext cx="6667500" cy="7140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65885" y="4020368"/>
            <a:ext cx="64122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Future-Proof: Allowances Work Toward New Capabilities</a:t>
            </a:r>
            <a:endParaRPr lang="en-US" sz="975" dirty="0"/>
          </a:p>
        </p:txBody>
      </p:sp>
      <p:sp>
        <p:nvSpPr>
          <p:cNvPr id="26" name="Text 20"/>
          <p:cNvSpPr/>
          <p:nvPr/>
        </p:nvSpPr>
        <p:spPr>
          <a:xfrm>
            <a:off x="1365885" y="4212654"/>
            <a:ext cx="64122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Moody's releases new capabilities — including AI agents &amp; risk insights — customers can leverage their existing usage allowance. 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contracts required.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304800" y="4877395"/>
            <a:ext cx="7655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categories, unit rates and module names shown are illustrative for presentation purposes only. Final modules and pricing subject to change.</a:t>
            </a:r>
            <a:endParaRPr lang="en-US" sz="675" dirty="0"/>
          </a:p>
        </p:txBody>
      </p:sp>
      <p:sp>
        <p:nvSpPr>
          <p:cNvPr id="28" name="Text 22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055" y="257175"/>
            <a:ext cx="8054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Scale Seamlessly from Long‑Tail SMBs to Enterprise Level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06471" y="1002204"/>
            <a:ext cx="4830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configurations — not packages. </a:t>
            </a:r>
          </a:p>
          <a:p>
            <a:pPr marL="0" indent="0" algn="ctr"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activate only what they need at a price point they are willing to pay.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1441446"/>
            <a:ext cx="2844850" cy="1820763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441446"/>
            <a:ext cx="2844850" cy="350490"/>
          </a:xfrm>
          <a:prstGeom prst="rect">
            <a:avLst/>
          </a:prstGeom>
          <a:solidFill>
            <a:srgbClr val="2AA19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1536696"/>
            <a:ext cx="2629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Onboarding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" y="1906237"/>
            <a:ext cx="26685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individuals for sanctions exposure at onboarding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42900" y="2102392"/>
            <a:ext cx="2668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SCREENING AGENT, SANCTIONS, PEPS</a:t>
            </a:r>
            <a:endParaRPr lang="en-US" sz="600" dirty="0"/>
          </a:p>
        </p:txBody>
      </p:sp>
      <p:pic>
        <p:nvPicPr>
          <p:cNvPr id="9" name="Image 0" descr="/tmp/rasterized-gradient-df8c6c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285153"/>
            <a:ext cx="2616250" cy="4761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3893" y="2380403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+ Level 1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13893" y="2546049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$10k–$49k/yr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228600" y="2875554"/>
            <a:ext cx="2844850" cy="38665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228600" y="2880317"/>
            <a:ext cx="28448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1950" y="3006969"/>
            <a:ext cx="599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ACV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480221" y="2980329"/>
            <a:ext cx="4690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$30k/yr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149650" y="1441446"/>
            <a:ext cx="2844850" cy="1820763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149650" y="1441446"/>
            <a:ext cx="2844850" cy="350490"/>
          </a:xfrm>
          <a:prstGeom prst="rect">
            <a:avLst/>
          </a:prstGeom>
          <a:solidFill>
            <a:srgbClr val="1B4E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83000" y="1536696"/>
            <a:ext cx="2629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Due Diligence &amp; KYC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63950" y="1906237"/>
            <a:ext cx="26685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KYC/KYB, monitoring &amp; generate EDD reports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3263950" y="2102392"/>
            <a:ext cx="2668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IDD AGENT, SANCTIONS, PEPS, ADVERSE MEDIA</a:t>
            </a:r>
            <a:endParaRPr lang="en-US" sz="600" dirty="0"/>
          </a:p>
        </p:txBody>
      </p:sp>
      <p:pic>
        <p:nvPicPr>
          <p:cNvPr id="21" name="Image 1" descr="/tmp/rasterized-gradient-005f29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50" y="2285153"/>
            <a:ext cx="2616250" cy="47610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34942" y="2380403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Level 3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3334942" y="2546049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$150k–$399k/yr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3149650" y="2875554"/>
            <a:ext cx="2844850" cy="38665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3149650" y="2880317"/>
            <a:ext cx="28448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283000" y="3006969"/>
            <a:ext cx="599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ACV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327154" y="2980329"/>
            <a:ext cx="5446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$200k/yr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070699" y="1441446"/>
            <a:ext cx="2844850" cy="1820763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070699" y="1441446"/>
            <a:ext cx="2844850" cy="350490"/>
          </a:xfrm>
          <a:prstGeom prst="rect">
            <a:avLst/>
          </a:prstGeom>
          <a:solidFill>
            <a:srgbClr val="FFB02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204049" y="1536696"/>
            <a:ext cx="26297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Compliance Program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184999" y="1906237"/>
            <a:ext cx="26685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compliance across jurisdictions</a:t>
            </a:r>
            <a:endParaRPr lang="en-US" sz="675" dirty="0"/>
          </a:p>
        </p:txBody>
      </p:sp>
      <p:sp>
        <p:nvSpPr>
          <p:cNvPr id="32" name="Text 28"/>
          <p:cNvSpPr/>
          <p:nvPr/>
        </p:nvSpPr>
        <p:spPr>
          <a:xfrm>
            <a:off x="6184999" y="2102392"/>
            <a:ext cx="2668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MODULES: ALL AGENTS, ALL SCREENING, ENTITY DATA</a:t>
            </a:r>
            <a:endParaRPr lang="en-US" sz="600" dirty="0"/>
          </a:p>
        </p:txBody>
      </p:sp>
      <p:pic>
        <p:nvPicPr>
          <p:cNvPr id="33" name="Image 2" descr="/tmp/rasterized-gradient-f51d8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99" y="2285153"/>
            <a:ext cx="2616250" cy="47610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55992" y="2380403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+ Level 5</a:t>
            </a:r>
            <a:endParaRPr lang="en-US" sz="825" dirty="0"/>
          </a:p>
        </p:txBody>
      </p:sp>
      <p:sp>
        <p:nvSpPr>
          <p:cNvPr id="35" name="Text 30"/>
          <p:cNvSpPr/>
          <p:nvPr/>
        </p:nvSpPr>
        <p:spPr>
          <a:xfrm>
            <a:off x="6255992" y="2546049"/>
            <a:ext cx="2474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$750k–$1M/yr</a:t>
            </a:r>
            <a:endParaRPr lang="en-US" sz="675" dirty="0"/>
          </a:p>
        </p:txBody>
      </p:sp>
      <p:sp>
        <p:nvSpPr>
          <p:cNvPr id="36" name="Text 31"/>
          <p:cNvSpPr/>
          <p:nvPr/>
        </p:nvSpPr>
        <p:spPr>
          <a:xfrm>
            <a:off x="6070699" y="2875554"/>
            <a:ext cx="2844850" cy="38665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2"/>
          <p:cNvSpPr/>
          <p:nvPr/>
        </p:nvSpPr>
        <p:spPr>
          <a:xfrm>
            <a:off x="6070699" y="2880317"/>
            <a:ext cx="28448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204049" y="3006969"/>
            <a:ext cx="5994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ACV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8248204" y="2980329"/>
            <a:ext cx="5446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$850k/yr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228600" y="4680645"/>
            <a:ext cx="77335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configurations, example ACVs, package names, and pricing shown are illustrative for presentation purposes only.</a:t>
            </a:r>
            <a:endParaRPr lang="en-US" sz="675" dirty="0"/>
          </a:p>
        </p:txBody>
      </p:sp>
      <p:sp>
        <p:nvSpPr>
          <p:cNvPr id="41" name="Text 36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75274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Simplified Order Form with Consolidated SKUs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2701" y="1283270"/>
            <a:ext cx="3925788" cy="2317998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31751" y="1283270"/>
            <a:ext cx="0" cy="2317998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0801" y="1283270"/>
            <a:ext cx="3887688" cy="382786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0801" y="1656531"/>
            <a:ext cx="3887688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4151" y="1378520"/>
            <a:ext cx="36934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Legacy Order Form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65101" y="1780356"/>
            <a:ext cx="37322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ITEMS REQUIRED: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65101" y="1957461"/>
            <a:ext cx="3732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Orbis Global: $45,000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65101" y="2128911"/>
            <a:ext cx="3732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Orbis National: $25,000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5101" y="2300361"/>
            <a:ext cx="3732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Review: $35,000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5101" y="2471811"/>
            <a:ext cx="3732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Review: $20,000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5101" y="2643261"/>
            <a:ext cx="3732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Agent: $15,000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5101" y="2814711"/>
            <a:ext cx="3732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Data: $10,000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5101" y="3024261"/>
            <a:ext cx="3659088" cy="298996"/>
          </a:xfrm>
          <a:prstGeom prst="roundRect">
            <a:avLst>
              <a:gd name="adj" fmla="val 1274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234" y="3100461"/>
            <a:ext cx="3576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$150,000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28510" y="3380407"/>
            <a:ext cx="37322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separate SKUs, different terms, new order forms needed for expansion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643289" y="1429121"/>
            <a:ext cx="3925788" cy="2026295"/>
          </a:xfrm>
          <a:prstGeom prst="roundRect">
            <a:avLst>
              <a:gd name="adj" fmla="val 47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3289" y="1438646"/>
            <a:ext cx="3925788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59553" y="1429121"/>
            <a:ext cx="0" cy="2026295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43289" y="3445891"/>
            <a:ext cx="3925788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2339" y="1429121"/>
            <a:ext cx="0" cy="2026295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81389" y="1448171"/>
            <a:ext cx="3868638" cy="382786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81389" y="1821432"/>
            <a:ext cx="3868638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14739" y="1543421"/>
            <a:ext cx="3673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Moody's for Compliance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795689" y="1945257"/>
            <a:ext cx="37128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ITEMS REQUIRED: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795689" y="2122363"/>
            <a:ext cx="37128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Package (Express): $25,000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95689" y="2307058"/>
            <a:ext cx="37128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Allowance (Level 3): $125,000</a:t>
            </a:r>
            <a:endParaRPr lang="en-US" sz="825" dirty="0"/>
          </a:p>
        </p:txBody>
      </p:sp>
      <p:pic>
        <p:nvPicPr>
          <p:cNvPr id="29" name="Image 0" descr="/tmp/rasterized-gradient-005f2e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689" y="2529854"/>
            <a:ext cx="3640038" cy="29899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837013" y="2606054"/>
            <a:ext cx="35573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$150,000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795689" y="2905050"/>
            <a:ext cx="3640038" cy="417016"/>
          </a:xfrm>
          <a:prstGeom prst="roundRect">
            <a:avLst>
              <a:gd name="adj" fmla="val 9136"/>
            </a:avLst>
          </a:prstGeom>
          <a:solidFill>
            <a:srgbClr val="F0F9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871889" y="2981250"/>
            <a:ext cx="35573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871889" y="3139305"/>
            <a:ext cx="35573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modules without re-negotiation. Delivery-agnostic pricing. Allowances for future AI capabilities.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04800" y="4680645"/>
            <a:ext cx="7655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pricing shown is illustrative for presentation purposes only.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8569077" y="4737199"/>
            <a:ext cx="31438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D6B3-DCDA-ECC7-F9E6-9895F8A0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D6DAF7-4392-29B6-5C1B-60473905A50B}"/>
              </a:ext>
            </a:extLst>
          </p:cNvPr>
          <p:cNvSpPr/>
          <p:nvPr/>
        </p:nvSpPr>
        <p:spPr>
          <a:xfrm>
            <a:off x="2210905" y="1865742"/>
            <a:ext cx="4722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Configurator</a:t>
            </a:r>
            <a:endParaRPr lang="en-US" sz="3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64D943-A5EF-BB1F-A26C-F7BEE95F8191}"/>
              </a:ext>
            </a:extLst>
          </p:cNvPr>
          <p:cNvSpPr/>
          <p:nvPr/>
        </p:nvSpPr>
        <p:spPr>
          <a:xfrm>
            <a:off x="3006969" y="2494392"/>
            <a:ext cx="31300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2B024F-DABD-B917-4D7A-C5F0E7AF4CA6}"/>
              </a:ext>
            </a:extLst>
          </p:cNvPr>
          <p:cNvSpPr/>
          <p:nvPr/>
        </p:nvSpPr>
        <p:spPr>
          <a:xfrm>
            <a:off x="8401948" y="4737199"/>
            <a:ext cx="47843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3955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21332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333798"/>
            <a:ext cx="4023271" cy="2026444"/>
          </a:xfrm>
          <a:prstGeom prst="roundRect">
            <a:avLst>
              <a:gd name="adj" fmla="val 658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094" y="1657648"/>
            <a:ext cx="34430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with Legacy SKUs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1094" y="2076748"/>
            <a:ext cx="3443082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line items</a:t>
            </a:r>
            <a:endParaRPr lang="en-US" sz="10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contracts for expansion</a:t>
            </a:r>
            <a:endParaRPr lang="en-US" sz="10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pricing</a:t>
            </a:r>
            <a:endParaRPr lang="en-US" sz="10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friction continues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09071" y="1069032"/>
            <a:ext cx="4023271" cy="255597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79734" y="1373832"/>
            <a:ext cx="348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Unified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79734" y="1792932"/>
            <a:ext cx="3481944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 items</a:t>
            </a:r>
            <a:endParaRPr lang="en-US" sz="1050" dirty="0"/>
          </a:p>
          <a:p>
            <a:pPr marL="0" indent="0" algn="ctr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expansion</a:t>
            </a:r>
            <a:endParaRPr lang="en-US" sz="1050" dirty="0"/>
          </a:p>
          <a:p>
            <a:pPr marL="0" indent="0" algn="ctr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Delivery-agnostic pricing</a:t>
            </a:r>
            <a:endParaRPr lang="en-US" sz="1050" dirty="0"/>
          </a:p>
          <a:p>
            <a:pPr marL="0" indent="0" algn="ctr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parity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74382" y="2943076"/>
            <a:ext cx="1892498" cy="377130"/>
          </a:xfrm>
          <a:prstGeom prst="roundRect">
            <a:avLst>
              <a:gd name="adj" fmla="val 1515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27491" y="3038326"/>
            <a:ext cx="13862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Approve as Default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61679" y="4737199"/>
            <a:ext cx="42301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006078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Key Enablers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737271"/>
            <a:ext cx="46168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2049661"/>
            <a:ext cx="452631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2049661"/>
            <a:ext cx="0" cy="57909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63961"/>
            <a:ext cx="43448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(In Progress)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381101"/>
            <a:ext cx="4344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M4C scope, access packages and consumption events. Finalise by end of month.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4800" y="2704951"/>
            <a:ext cx="452631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704951"/>
            <a:ext cx="0" cy="579090"/>
          </a:xfrm>
          <a:prstGeom prst="line">
            <a:avLst/>
          </a:prstGeom>
          <a:noFill/>
          <a:ln w="38100">
            <a:solidFill>
              <a:srgbClr val="1B4E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819251"/>
            <a:ext cx="43448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36391"/>
            <a:ext cx="4344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pricing. </a:t>
            </a:r>
            <a:r>
              <a:rPr lang="en-US" sz="75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</a:t>
            </a: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and submit for April Phase 1 release.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3360241"/>
            <a:ext cx="452631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3360241"/>
            <a:ext cx="0" cy="57909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74541"/>
            <a:ext cx="43448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— Phase 1 Apttus Release (Target)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691682"/>
            <a:ext cx="43448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codes for access package pricing and consumption through platform/API (MCP phase 2).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35910" y="1539478"/>
            <a:ext cx="3777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Enablers</a:t>
            </a:r>
            <a:endParaRPr lang="en-US" sz="900" dirty="0"/>
          </a:p>
        </p:txBody>
      </p:sp>
      <p:pic>
        <p:nvPicPr>
          <p:cNvPr id="17" name="Image 0" descr="/tmp/rasterized-gradient-eb090d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910" y="1851868"/>
            <a:ext cx="3703290" cy="51420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50210" y="1966168"/>
            <a:ext cx="3544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Metering Across All Delivery Channels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250210" y="2131814"/>
            <a:ext cx="3544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API, MCP — </a:t>
            </a:r>
            <a:r>
              <a:rPr lang="en-US" sz="675" dirty="0" err="1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</a:t>
            </a: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tracking</a:t>
            </a:r>
            <a:endParaRPr lang="en-US" sz="675" dirty="0"/>
          </a:p>
        </p:txBody>
      </p:sp>
      <p:pic>
        <p:nvPicPr>
          <p:cNvPr id="20" name="Image 1" descr="/tmp/rasterized-gradient-9348cc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910" y="2442270"/>
            <a:ext cx="3703290" cy="51420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0210" y="2556570"/>
            <a:ext cx="3544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Reporting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250210" y="2722215"/>
            <a:ext cx="3544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usage and allowance visibility</a:t>
            </a:r>
            <a:endParaRPr lang="en-US" sz="675" dirty="0"/>
          </a:p>
        </p:txBody>
      </p:sp>
      <p:pic>
        <p:nvPicPr>
          <p:cNvPr id="23" name="Image 2" descr="/tmp/rasterized-gradient-4d2975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910" y="3032671"/>
            <a:ext cx="3703290" cy="51420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50210" y="3146971"/>
            <a:ext cx="3544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Billing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5250210" y="3312616"/>
            <a:ext cx="3544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invoicing tied to consumption at scale</a:t>
            </a:r>
            <a:endParaRPr lang="en-US" sz="675" dirty="0"/>
          </a:p>
        </p:txBody>
      </p:sp>
      <p:pic>
        <p:nvPicPr>
          <p:cNvPr id="26" name="Image 3" descr="/tmp/rasterized-gradient-b44c19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910" y="3623072"/>
            <a:ext cx="3703290" cy="51420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0210" y="3737372"/>
            <a:ext cx="35441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Contracting</a:t>
            </a:r>
            <a:endParaRPr lang="en-US" sz="825" dirty="0"/>
          </a:p>
        </p:txBody>
      </p:sp>
      <p:sp>
        <p:nvSpPr>
          <p:cNvPr id="28" name="Text 22"/>
          <p:cNvSpPr/>
          <p:nvPr/>
        </p:nvSpPr>
        <p:spPr>
          <a:xfrm>
            <a:off x="5250210" y="3903018"/>
            <a:ext cx="35441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Two-line items, one master agreement, online/appended rate cards</a:t>
            </a:r>
            <a:endParaRPr lang="en-US" sz="675" dirty="0"/>
          </a:p>
        </p:txBody>
      </p:sp>
      <p:sp>
        <p:nvSpPr>
          <p:cNvPr id="29" name="Text 23"/>
          <p:cNvSpPr/>
          <p:nvPr/>
        </p:nvSpPr>
        <p:spPr>
          <a:xfrm>
            <a:off x="8498384" y="4737199"/>
            <a:ext cx="38649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Microsoft Office PowerPoint</Application>
  <PresentationFormat>On-screen Show (16:9)</PresentationFormat>
  <Paragraphs>212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Moody's for Compliance – Pricing &amp; Packaging</dc:title>
  <dc:subject>Pricing Transformation Proposal</dc:subject>
  <dc:creator>Moody's Analytics</dc:creator>
  <cp:lastModifiedBy>Craig Wilson (Moody's)</cp:lastModifiedBy>
  <cp:revision>2</cp:revision>
  <dcterms:created xsi:type="dcterms:W3CDTF">2026-01-05T14:52:56Z</dcterms:created>
  <dcterms:modified xsi:type="dcterms:W3CDTF">2026-01-08T12:49:23Z</dcterms:modified>
</cp:coreProperties>
</file>